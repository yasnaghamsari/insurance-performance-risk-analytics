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4.png"/><Relationship Id="rId9" Type="http://schemas.openxmlformats.org/officeDocument/2006/relationships/image" Target="../media/image-5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8674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Insurance Portfolio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5151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 Dashboard Project — Business Problem Statement &amp; Project Report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68973"/>
            <a:ext cx="2515926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225627"/>
            <a:ext cx="28987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POWER BI DESKTOP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43740" y="4168973"/>
            <a:ext cx="214227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7145" y="4225627"/>
            <a:ext cx="252505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INSURANCE ANALYTICS / BI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0080472" y="4168973"/>
            <a:ext cx="96021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93876" y="4225627"/>
            <a:ext cx="13429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JUNE 2026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33360" y="466873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Boveen Pavuluri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3463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Business Problem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33360" y="1263650"/>
            <a:ext cx="6296860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insurer across 4 Indian regions manages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10,000+ policies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5 product lines — Health, Motor, Life, Travel, and Home. Leadership relies on disconnected spreadsheets with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 centralized visibility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into premiums, claims, agents, or retention.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33360" y="2355552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5392801" y="2514997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Underwriting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392801" y="2844800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loss ratio visibility — policies may be underpriced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33360" y="3373934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5392801" y="3533378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Claims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392801" y="3863181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Cannot identify which products or regions drive losses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392315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5392801" y="4551759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92801" y="4881563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Cannot differentiate high-performing vs. high-risk agents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3360" y="5410696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EAE8F3"/>
          </a:solidFill>
          <a:ln/>
        </p:spPr>
      </p:sp>
      <p:sp>
        <p:nvSpPr>
          <p:cNvPr id="15" name="Text 12"/>
          <p:cNvSpPr/>
          <p:nvPr/>
        </p:nvSpPr>
        <p:spPr>
          <a:xfrm>
            <a:off x="5392801" y="5570141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392801" y="5899944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Lapse rate unmonitored — customers leave without intervention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309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Solution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65709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4-page interactive Power BI dashboard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consolidating all insurance data — giving executives, operations, sales, and risk teams a single source of truth for fast, data-driven decisions.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11771"/>
            <a:ext cx="10868745" cy="4767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55303" y="4400683"/>
            <a:ext cx="1642671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Claims Analysis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55303" y="5072605"/>
            <a:ext cx="1642671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Approval rate, settlement days, volume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73680" y="4400683"/>
            <a:ext cx="1642670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&amp; Retention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73680" y="5072605"/>
            <a:ext cx="1642670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Lapse rate and regional loss heatmap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03632" y="1740284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Overview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403632" y="2412206"/>
            <a:ext cx="1642671" cy="38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Premium, claims, loss ratio, policies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01093" y="1740284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 Performance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01093" y="2412206"/>
            <a:ext cx="1642670" cy="57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Top/bottom agents and loss ranking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166743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stakeholder can filter the entire dashboard by region, policy type, or time period.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Model &amp; Cleaning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34942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354429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Excel file with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 sheets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covering 10,000 policies, 4,000 claims, and premiums from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Jan 2022 – Apr 2025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3700165"/>
            <a:ext cx="5319083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Dimension tables: Customer, Agent, Policy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Fact tables: Policies, Premiums, Claims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 DateTable via DAX CALENDAR() (2022–2026)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 Schema — 7 Relationships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33872"/>
            <a:ext cx="5319083" cy="5319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6559252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D7D6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630095"/>
            <a:ext cx="118067" cy="94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8450" y="6630095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Query fixes: Added headers to Dim_Agent, corrected Excel serial-number dates across 3 fact tables, added MonthSort column for chronological chart display.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902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DAX Measures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13954"/>
            <a:ext cx="6296860" cy="12637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99855" y="1504255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Volume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499855" y="1864916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Premium, Total Claims Amount, Total Policies, Active Policies, Lapsed Policies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32881"/>
            <a:ext cx="6296860" cy="10025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99855" y="2923183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Efficiency Ratios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499855" y="3283843"/>
            <a:ext cx="584006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Lapse Rate %, Claim Approval Rate %, Loss Ratio %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890566"/>
            <a:ext cx="6296860" cy="12637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99855" y="4080867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Claims Performance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499855" y="4441527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Claims Count, Approved Claims Count, Avg Settlement Days, Average Claim Amount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309493"/>
            <a:ext cx="6296860" cy="10025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99855" y="5499795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 Metrics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5499855" y="5860455"/>
            <a:ext cx="584006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Claims per Agent — total claims divided by distinct agent count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56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Pages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44279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71180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1 — Executive Overview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75138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KPIs, premium trend, policy type breakdown, regional distribution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644279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7118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2 — Claims Analysis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27513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Approval rate, settlement days, claims by status and policy type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644279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7118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3 — Agent 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27513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10 agents by premium, loss ratio ranking, risk-coded table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644279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7118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4 — Risk &amp; Retention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275138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Lapse rate, premium vs. claims by region, loss ratio heatmap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082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KPIs &amp; Critical Insights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92113"/>
            <a:ext cx="53809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₹567M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738709"/>
            <a:ext cx="53809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Premium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49127" y="1192113"/>
            <a:ext cx="53810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₹603M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6149127" y="1738709"/>
            <a:ext cx="53810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Claims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2171303"/>
            <a:ext cx="53809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106.4%</a:t>
            </a:r>
            <a:endParaRPr lang="en-US" sz="3250" dirty="0"/>
          </a:p>
        </p:txBody>
      </p:sp>
      <p:sp>
        <p:nvSpPr>
          <p:cNvPr id="8" name="Text 6"/>
          <p:cNvSpPr/>
          <p:nvPr/>
        </p:nvSpPr>
        <p:spPr>
          <a:xfrm>
            <a:off x="661475" y="2717899"/>
            <a:ext cx="53809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Loss Ratio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9127" y="2171303"/>
            <a:ext cx="53810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6,018</a:t>
            </a:r>
            <a:endParaRPr lang="en-US" sz="3250" dirty="0"/>
          </a:p>
        </p:txBody>
      </p:sp>
      <p:sp>
        <p:nvSpPr>
          <p:cNvPr id="10" name="Text 8"/>
          <p:cNvSpPr/>
          <p:nvPr/>
        </p:nvSpPr>
        <p:spPr>
          <a:xfrm>
            <a:off x="6149127" y="2717899"/>
            <a:ext cx="53810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Active Policies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475" y="3150493"/>
            <a:ext cx="53809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54.8%</a:t>
            </a:r>
            <a:endParaRPr lang="en-US" sz="3250" dirty="0"/>
          </a:p>
        </p:txBody>
      </p:sp>
      <p:sp>
        <p:nvSpPr>
          <p:cNvPr id="12" name="Text 10"/>
          <p:cNvSpPr/>
          <p:nvPr/>
        </p:nvSpPr>
        <p:spPr>
          <a:xfrm>
            <a:off x="661475" y="3697089"/>
            <a:ext cx="53809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Claim Approval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9127" y="3150493"/>
            <a:ext cx="53810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25.2</a:t>
            </a:r>
            <a:endParaRPr lang="en-US" sz="3250" dirty="0"/>
          </a:p>
        </p:txBody>
      </p:sp>
      <p:sp>
        <p:nvSpPr>
          <p:cNvPr id="14" name="Text 12"/>
          <p:cNvSpPr/>
          <p:nvPr/>
        </p:nvSpPr>
        <p:spPr>
          <a:xfrm>
            <a:off x="6149127" y="3697089"/>
            <a:ext cx="538109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Settlement Days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991471"/>
            <a:ext cx="5391710" cy="71159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3719" y="4137521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Underwriting Loss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719" y="4387155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Claims exceed premiums — immediate repricing needed.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510" y="3991471"/>
            <a:ext cx="5391710" cy="7115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60755" y="4137521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Lapse Rate: 14.6%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60755" y="4387155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1,463 customers stopped paying — targeted retention required.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788396"/>
            <a:ext cx="5391710" cy="71159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3719" y="4934446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 (West): 134.8% Loss Ratio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83719" y="5184080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Highest-risk segment — paying ₹134 per ₹100 collected.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8510" y="4788396"/>
            <a:ext cx="5391710" cy="71159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60755" y="4934446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Life (West): 87.5% — Only Profitable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60755" y="5184080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Cross-subsidizing all other loss-making segments.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585321"/>
            <a:ext cx="5391710" cy="7115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3719" y="5731371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 Quality Gap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83719" y="5981005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agent (Shlok Banik) at 64.4% vs. worst (Oorja Ratta) at 229% loss ratio.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38510" y="5585321"/>
            <a:ext cx="5391710" cy="71159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60755" y="5731371"/>
            <a:ext cx="502341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Premium Decline Since Mid-2024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360755" y="5981005"/>
            <a:ext cx="5023419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Peaked at ₹21M/month in April 2024, then declined sharply.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38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Tools, Technologies &amp; Conclusion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97943"/>
            <a:ext cx="6933530" cy="3929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5996" y="1340148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541" y="1727994"/>
            <a:ext cx="230281" cy="2302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74954" y="1720354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BI Desktop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Dashboard development &amp; visualization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541" y="2445841"/>
            <a:ext cx="230281" cy="2302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74954" y="2438202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Query (M)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Data cleaning &amp; transformation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3541" y="3163689"/>
            <a:ext cx="230281" cy="23028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474954" y="3156049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DAX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Calculated measures &amp; KPIs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3541" y="3881537"/>
            <a:ext cx="230281" cy="23028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474954" y="3873897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Star Schema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Fact &amp; dimension table modeling</a:t>
            </a:r>
            <a:endParaRPr lang="en-US" sz="12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33541" y="4599384"/>
            <a:ext cx="230281" cy="230287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474954" y="4591745"/>
            <a:ext cx="30615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GitHub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Portfolio hosting &amp; version control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7975996" y="5200352"/>
            <a:ext cx="3560475" cy="968970"/>
          </a:xfrm>
          <a:prstGeom prst="roundRect">
            <a:avLst>
              <a:gd name="adj" fmla="val 2377"/>
            </a:avLst>
          </a:prstGeom>
          <a:solidFill>
            <a:srgbClr val="D7D6F5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483" y="5400477"/>
            <a:ext cx="191884" cy="15349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474855" y="5350867"/>
            <a:ext cx="290812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is available on GitHub with the source dataset, Power BI file, and README documentation.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2026-09-01T07:30:51Z</dcterms:created>
  <dcterms:modified xsi:type="dcterms:W3CDTF">2026-09-01T07:30:51Z</dcterms:modified>
</cp:coreProperties>
</file>